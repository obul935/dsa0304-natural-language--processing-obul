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40080"/>
            <a:ext cx="5120640" cy="53035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868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Segoe UI"/>
              </a:defRPr>
            </a:pPr>
            <a:r>
              <a:t>INIT-HACK 2.0 – HACKATHON 2026  |  B.TECH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CIVICFLOW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4028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AI-Powered Urban Service Demand &amp;</a:t>
            </a:r>
            <a:br/>
            <a:r>
              <a:t>Resource Allocation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154680"/>
            <a:ext cx="457200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18688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E2E8F0"/>
                </a:solidFill>
                <a:latin typeface="Segoe UI"/>
              </a:defRPr>
            </a:pPr>
            <a:r>
              <a:t>Tagline: "From Civic Problems to Intelligent Action"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77639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CBD5E1"/>
                </a:solidFill>
                <a:latin typeface="Segoe UI"/>
              </a:defRPr>
            </a:pPr>
            <a:r>
              <a:t>TEAM DETAILS &amp; PARTICIPANTS: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Team Name: mugiwara's kizoku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Members: G Vishnu Madhav  &amp;  B Yeswanth Obul Reddy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Institution: B.Tech Engineering Dept  |  Track: Urban Operations AI</a:t>
            </a:r>
          </a:p>
        </p:txBody>
      </p:sp>
      <p:pic>
        <p:nvPicPr>
          <p:cNvPr id="9" name="Picture 8" descr="fig_dashboard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640080"/>
            <a:ext cx="5394960" cy="5303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CIVICFLOW AI  |  INIT-HACK 2.0 (2026)  |  Team: mugiwara's kizoku</a:t>
            </a:r>
          </a:p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1 of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URBAN OPERATIONS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Urban Civic Problems Are Managed Reactively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43584"/>
            <a:ext cx="106984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Cities face continuous infrastructure degradation while municipal departments operate in isolated silos.</a:t>
            </a:r>
          </a:p>
        </p:txBody>
      </p:sp>
      <p:pic>
        <p:nvPicPr>
          <p:cNvPr id="5" name="Picture 4" descr="fig_problem_si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603504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691640"/>
            <a:ext cx="44805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182880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REACTIVE BOTTLENECK ANALYSIS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Endless Recurring Hazards: 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  Road potholes, water main bursts, sewer blocks, and streetlight outages repeatedly resurface without root-cause prevention.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Manual Multi-Hop Handoffs: 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  Complaint -&gt; Manual verification -&gt; Bureaucratic assignment -&gt; Unchecked material search -&gt; Delayed field execution.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Resource Blind Spots: 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  Sanitation and road repair crews are dispatched without knowing exact site dimensions, required asphalt tonnages, or machinery.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Zero Operational Visibility: 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  Neither citizens nor city commissioners can inspect live repair status, resulting in duplicate calls and citizen dissatisfaction.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Chronic Workload Imbalance: 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  Critical wards sit overwhelmed with 10+ backlog tickets while neighboring zones maintain underutilized crews.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CIVICFLOW AI  |  INIT-HACK 2.0 (2026)  |  Team: mugiwara's kizoku</a:t>
            </a:r>
          </a:p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2 of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ENTERPRISE PARADIGM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Introducing CivicFlow AI: The Urban Operations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43584"/>
            <a:ext cx="106984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CivicFlow AI is NOT a basic complaint portal. It is a full-lifecycle operational operating system for smart cities.</a:t>
            </a:r>
          </a:p>
        </p:txBody>
      </p:sp>
      <p:pic>
        <p:nvPicPr>
          <p:cNvPr id="5" name="Picture 4" descr="fig_workflow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10728655" cy="2331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206240"/>
            <a:ext cx="342900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3429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AI &amp; GIS Intelligence</a:t>
            </a:r>
          </a:p>
          <a:p>
            <a:pPr>
              <a:defRPr sz="919">
                <a:solidFill>
                  <a:srgbClr val="334155"/>
                </a:solidFill>
                <a:latin typeface="Segoe UI"/>
              </a:defRPr>
            </a:pPr>
            <a:r>
              <a:t>Ingests unstructured citizen reports, extracts exact damage categories via NLP, and maps spatial density to detect geographic hotspots.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4206240"/>
            <a:ext cx="342900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4206240"/>
            <a:ext cx="3429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438912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Segoe UI"/>
              </a:defRPr>
            </a:pPr>
            <a:r>
              <a:t>Dynamic Resource Optimization</a:t>
            </a:r>
          </a:p>
          <a:p>
            <a:pPr>
              <a:defRPr sz="919">
                <a:solidFill>
                  <a:srgbClr val="334155"/>
                </a:solidFill>
                <a:latin typeface="Segoe UI"/>
              </a:defRPr>
            </a:pPr>
            <a:r>
              <a:t>Converts tickets into engineered work orders. Matches required asphalt, pipe inventory, machinery, and nearest skilled crews automatically.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4206240"/>
            <a:ext cx="342900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144" y="4206240"/>
            <a:ext cx="3429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3" y="438912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Closed-Loop Governance</a:t>
            </a:r>
          </a:p>
          <a:p>
            <a:pPr>
              <a:defRPr sz="919">
                <a:solidFill>
                  <a:srgbClr val="334155"/>
                </a:solidFill>
                <a:latin typeface="Segoe UI"/>
              </a:defRPr>
            </a:pPr>
            <a:r>
              <a:t>Tracks real-time progress percentages, geo-tagged inspection photos, and post-repair telemetry to transition from reactive patching to preventive care.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CIVICFLOW AI  |  INIT-HACK 2.0 (2026)  |  Team: mugiwara's kizoku</a:t>
            </a:r>
          </a:p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3 of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ENGINEERING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Project Objectives: Engineering a Closed-Loop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43584"/>
            <a:ext cx="106984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Engineered to systematically replace manual bureaucratic handoffs with algorithmic municipal orchestration.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290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856232"/>
            <a:ext cx="365760" cy="21945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48840"/>
            <a:ext cx="3099816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01. Automated Classification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Utilize multi-modal NLP to categorize unstructured citizen text, image tags, and assign objective severity scores within milliseconds.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91640"/>
            <a:ext cx="34290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07992" y="1856232"/>
            <a:ext cx="365760" cy="21945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2148840"/>
            <a:ext cx="3099816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02. Geospatial Hotspot Detection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Identify geographic clusters and recurring infrastructure failures using spatial clustering (DBSCAN) over municipal GIS layers.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691640"/>
            <a:ext cx="3502152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19871" y="1856232"/>
            <a:ext cx="365760" cy="219456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1" y="2148840"/>
            <a:ext cx="3172968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03. Predictive Demand Forecasting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Forecast future service demand spikes across city wards using time-series modeling (ARIMA / Prophet) to eliminate response latency.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25603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" y="4142231"/>
            <a:ext cx="365760" cy="21945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434840"/>
            <a:ext cx="223113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04. Resource &amp; Crew Optimization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Optimize allocation of municipal workforce, specialized equipment, vehicles, and raw materials based on real-time availability.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977639"/>
            <a:ext cx="25603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39312" y="4142231"/>
            <a:ext cx="365760" cy="21945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312" y="4434840"/>
            <a:ext cx="223113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05. Structured Digital Work Orders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Convert abstract service requests into actionable engineering work orders with precise repair scope and bill of materials (BOM).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977639"/>
            <a:ext cx="25603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82512" y="4142231"/>
            <a:ext cx="365760" cy="21945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4434840"/>
            <a:ext cx="223113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06. Live Progress Auditing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Provide milestone-driven monitoring from dispatch to physical verification with tamper-proof supervisor photo logs.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3977639"/>
            <a:ext cx="2496312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25712" y="4142231"/>
            <a:ext cx="365760" cy="21945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25712" y="4434840"/>
            <a:ext cx="216712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Segoe UI"/>
              </a:defRPr>
            </a:pPr>
            <a:r>
              <a:t>07. Bidirectional Transparency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Offer full tracking visibility to both citizens and city administrators, closing the municipal trust deficit.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CIVICFLOW AI  |  INIT-HACK 2.0 (2026)  |  Team: mugiwara's kizoku</a:t>
            </a:r>
          </a:p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4 of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OPERATIONAL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Intelligent Civic Operations Lifecycle: 10 Operational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43584"/>
            <a:ext cx="106984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Every civic event moves through an immutable, automated 10-stage execution and learning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029968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2029968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01952"/>
            <a:ext cx="17556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Stage 1: Report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Citizen submits issue with geotag, photos &amp; description via portal.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737360"/>
            <a:ext cx="2029968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07791" y="1737360"/>
            <a:ext cx="2029968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1" y="1901952"/>
            <a:ext cx="17556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Stage 2: Understand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NLP categorizes issue, extracts intent &amp; measures severity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737360"/>
            <a:ext cx="2029968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84064" y="1737360"/>
            <a:ext cx="2029968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1224" y="1901952"/>
            <a:ext cx="17556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Stage 3: Prioritize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System computes priority: Severity x Population x Hazard Risk.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737360"/>
            <a:ext cx="2029968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0336" y="1737360"/>
            <a:ext cx="2029968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7496" y="1901952"/>
            <a:ext cx="17556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Stage 4: Predict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AI checks recurrence history &amp; forecasts immediate ward impact.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737360"/>
            <a:ext cx="2029968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36608" y="1737360"/>
            <a:ext cx="2029968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3768" y="1901952"/>
            <a:ext cx="17556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Stage 5: Plan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Engineer defines scope, required materials (BOM), and schedule.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2029968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023360"/>
            <a:ext cx="2029968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87952"/>
            <a:ext cx="17556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Stage 6: Allocate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Optimization engine assigns optimal crew, vehicle &amp; inventory.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07791" y="4023360"/>
            <a:ext cx="2029968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07791" y="4023360"/>
            <a:ext cx="2029968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1" y="4187952"/>
            <a:ext cx="17556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Stage 7: Repair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Field team receives mobile work order &amp; initiates repairs.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84064" y="4023360"/>
            <a:ext cx="2029968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84064" y="4023360"/>
            <a:ext cx="2029968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21224" y="4187952"/>
            <a:ext cx="17556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Stage 8: Monitor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Tracks live progress %, material usage &amp; GPS check-ins.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0336" y="4023360"/>
            <a:ext cx="2029968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60336" y="4023360"/>
            <a:ext cx="2029968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97496" y="4187952"/>
            <a:ext cx="17556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Stage 9: Verify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Supervisor conducts inspection &amp; uploads geo-tagged proof.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36608" y="4023360"/>
            <a:ext cx="2029968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36608" y="4023360"/>
            <a:ext cx="2029968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73768" y="4187952"/>
            <a:ext cx="17556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Stage 10: Learn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Data updates ML recurrence models to prompt preventive care.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CIVICFLOW AI  |  INIT-HACK 2.0 (2026)  |  Team: mugiwara's kizoku</a:t>
            </a:r>
          </a:p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5 of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CivicFlow AI — Multi-Tier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43584"/>
            <a:ext cx="106984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Modular microservices blueprint orchestrating user intake, machine intelligence, and physical city actuation.</a:t>
            </a:r>
          </a:p>
        </p:txBody>
      </p:sp>
      <p:pic>
        <p:nvPicPr>
          <p:cNvPr id="5" name="Picture 4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758952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03920" y="1691640"/>
            <a:ext cx="2953512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828800"/>
            <a:ext cx="2587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ARCHITECTURE HIGHLIGHTS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Decoupled Microservices: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Frontend, AI inference, and database layers operate independently with REST/gRPC interfaces.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Geospatial Processing: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PostGIS spatial indices enable sub-second spatial querying across millions of coordinate pairs.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Asynchronous Job Queues: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Resource allocation solvers and Prophet models execute via Celery/Redis without blocking API threads.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Enterprise RBAC: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Role-based access control separates public citizen views, engineer dispatches, and commissioner dashboards.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CIVICFLOW AI  |  INIT-HACK 2.0 (2026)  |  Team: mugiwara's kizoku</a:t>
            </a:r>
          </a:p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6 of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SYSTEM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Major System Modules: 6 Pillars of Civic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43584"/>
            <a:ext cx="106984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Modular software services designed to operate cohesively as a unified municipal operations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56432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456432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3090672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Module 1: Civic Service Intelligence</a:t>
            </a:r>
          </a:p>
          <a:p>
            <a:pPr>
              <a:defRPr sz="880">
                <a:solidFill>
                  <a:srgbClr val="334155"/>
                </a:solidFill>
                <a:latin typeface="Segoe UI"/>
              </a:defRPr>
            </a:pPr>
            <a:r>
              <a:t>Multi-channel complaint ingestion, zero-shot NLP intent extraction, auto-categorization into 14 municipal taxonomy trees, and dynamic severity index scoring.</a:t>
            </a:r>
          </a:p>
          <a:p>
            <a:br/>
            <a:pPr>
              <a:defRPr sz="819" b="1">
                <a:solidFill>
                  <a:srgbClr val="64748B"/>
                </a:solidFill>
                <a:latin typeface="Segoe UI"/>
              </a:defRPr>
            </a:pPr>
            <a:r>
              <a:t>Input: Raw Text/Photo | Output: Scored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737360"/>
            <a:ext cx="3456432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737360"/>
            <a:ext cx="345643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901952"/>
            <a:ext cx="3090672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Module 2: GIS &amp; Hotspot Analysis</a:t>
            </a:r>
          </a:p>
          <a:p>
            <a:pPr>
              <a:defRPr sz="880">
                <a:solidFill>
                  <a:srgbClr val="334155"/>
                </a:solidFill>
                <a:latin typeface="Segoe UI"/>
              </a:defRPr>
            </a:pPr>
            <a:r>
              <a:t>Dynamic hex-grid spatial mapping, recurrent failure zone identification, spatial heatmaps, and coordinate geocoding across city boundaries.</a:t>
            </a:r>
          </a:p>
          <a:p>
            <a:br/>
            <a:pPr>
              <a:defRPr sz="819" b="1">
                <a:solidFill>
                  <a:srgbClr val="64748B"/>
                </a:solidFill>
                <a:latin typeface="Segoe UI"/>
              </a:defRPr>
            </a:pPr>
            <a:r>
              <a:t>Input: Coordinates | Output: DBSCAN Clusters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737360"/>
            <a:ext cx="3456432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0144" y="1737360"/>
            <a:ext cx="345643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3" y="1901952"/>
            <a:ext cx="3090672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Module 3: AI Demand Forecasting</a:t>
            </a:r>
          </a:p>
          <a:p>
            <a:pPr>
              <a:defRPr sz="880">
                <a:solidFill>
                  <a:srgbClr val="334155"/>
                </a:solidFill>
                <a:latin typeface="Segoe UI"/>
              </a:defRPr>
            </a:pPr>
            <a:r>
              <a:t>Time-series predictive models (ARIMA &amp; Prophet) forecasting 7 to 30 day demand surges categorized by ward, season, and historical rainfall patterns.</a:t>
            </a:r>
          </a:p>
          <a:p>
            <a:br/>
            <a:pPr>
              <a:defRPr sz="819" b="1">
                <a:solidFill>
                  <a:srgbClr val="64748B"/>
                </a:solidFill>
                <a:latin typeface="Segoe UI"/>
              </a:defRPr>
            </a:pPr>
            <a:r>
              <a:t>Input: Time Logs | Output: Ward Demand Curve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56432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023360"/>
            <a:ext cx="345643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87952"/>
            <a:ext cx="3090672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Module 4: Resource Optimization</a:t>
            </a:r>
          </a:p>
          <a:p>
            <a:pPr>
              <a:defRPr sz="880">
                <a:solidFill>
                  <a:srgbClr val="334155"/>
                </a:solidFill>
                <a:latin typeface="Segoe UI"/>
              </a:defRPr>
            </a:pPr>
            <a:r>
              <a:t>Algorithmic resource dispatch matching field teams, heavy vehicles (excavators, rollers), and material inventory to live work orders.</a:t>
            </a:r>
          </a:p>
          <a:p>
            <a:br/>
            <a:pPr>
              <a:defRPr sz="819" b="1">
                <a:solidFill>
                  <a:srgbClr val="64748B"/>
                </a:solidFill>
                <a:latin typeface="Segoe UI"/>
              </a:defRPr>
            </a:pPr>
            <a:r>
              <a:t>Input: Inventory/Crew | Output: Optimal Dispatch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4023360"/>
            <a:ext cx="3456432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0832" y="4023360"/>
            <a:ext cx="345643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4187952"/>
            <a:ext cx="3090672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Module 5: Repair &amp; Work Order Management</a:t>
            </a:r>
          </a:p>
          <a:p>
            <a:pPr>
              <a:defRPr sz="880">
                <a:solidFill>
                  <a:srgbClr val="334155"/>
                </a:solidFill>
                <a:latin typeface="Segoe UI"/>
              </a:defRPr>
            </a:pPr>
            <a:r>
              <a:t>Full work order lifecycle engine defining engineering scope, bill of materials (BOM), contractor assignment, cost estimations, and progress SLAs.</a:t>
            </a:r>
          </a:p>
          <a:p>
            <a:br/>
            <a:pPr>
              <a:defRPr sz="819" b="1">
                <a:solidFill>
                  <a:srgbClr val="64748B"/>
                </a:solidFill>
                <a:latin typeface="Segoe UI"/>
              </a:defRPr>
            </a:pPr>
            <a:r>
              <a:t>Input: Work Plan | Output: Verified Execution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4023360"/>
            <a:ext cx="3456432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0144" y="4023360"/>
            <a:ext cx="3456432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3" y="4187952"/>
            <a:ext cx="3090672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Module 6: Monitoring &amp; Transparency Hub</a:t>
            </a:r>
          </a:p>
          <a:p>
            <a:pPr>
              <a:defRPr sz="880">
                <a:solidFill>
                  <a:srgbClr val="334155"/>
                </a:solidFill>
                <a:latin typeface="Segoe UI"/>
              </a:defRPr>
            </a:pPr>
            <a:r>
              <a:t>Real-time command center telemetry, stage-by-stage milestone tracker, public citizen portal, and immutable photo audit records.</a:t>
            </a:r>
          </a:p>
          <a:p>
            <a:br/>
            <a:pPr>
              <a:defRPr sz="819" b="1">
                <a:solidFill>
                  <a:srgbClr val="64748B"/>
                </a:solidFill>
                <a:latin typeface="Segoe UI"/>
              </a:defRPr>
            </a:pPr>
            <a:r>
              <a:t>Input: Field Check-in | Output: Public Telemetry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CIVICFLOW AI  |  INIT-HACK 2.0 (2026)  |  Team: mugiwara's kizoku</a:t>
            </a:r>
          </a:p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7 of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MACHINE LEARNING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Where AI Is Actually Used: Engineering the Intelligence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43584"/>
            <a:ext cx="106984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No generic buzzwords: concrete mathematical models, NLP pipelines, and constraint optimization engines.</a:t>
            </a:r>
          </a:p>
        </p:txBody>
      </p:sp>
      <p:pic>
        <p:nvPicPr>
          <p:cNvPr id="5" name="Picture 4" descr="fig_ai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621792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691640"/>
            <a:ext cx="4327855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0920" y="1828800"/>
            <a:ext cx="3886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CORE ALGORITHMIC FORMULATIONS</a:t>
            </a:r>
          </a:p>
          <a:p>
            <a:pPr>
              <a:defRPr sz="919" b="1">
                <a:solidFill>
                  <a:srgbClr val="FFFFFF"/>
                </a:solidFill>
                <a:latin typeface="Segoe UI"/>
              </a:defRPr>
            </a:pPr>
            <a:r>
              <a:t>• 1. NLP Classification:</a:t>
            </a:r>
          </a:p>
          <a:p>
            <a:pPr>
              <a:defRPr sz="830">
                <a:solidFill>
                  <a:srgbClr val="CBD5E1"/>
                </a:solidFill>
                <a:latin typeface="Segoe UI"/>
              </a:defRPr>
            </a:pPr>
            <a:r>
              <a:t>  Fine-tuned DistilBERT/RoBERTa model tokenizes raw citizen complaints, achieving multi-class classification across 14 municipal departments with 92%+ precision.</a:t>
            </a:r>
          </a:p>
          <a:p>
            <a:pPr>
              <a:defRPr sz="919" b="1">
                <a:solidFill>
                  <a:srgbClr val="FFFFFF"/>
                </a:solidFill>
                <a:latin typeface="Segoe UI"/>
              </a:defRPr>
            </a:pPr>
            <a:r>
              <a:t>• 2. Priority Scoring Formula:</a:t>
            </a:r>
          </a:p>
          <a:p>
            <a:pPr>
              <a:defRPr sz="830">
                <a:solidFill>
                  <a:srgbClr val="CBD5E1"/>
                </a:solidFill>
                <a:latin typeface="Segoe UI"/>
              </a:defRPr>
            </a:pPr>
            <a:r>
              <a:t>  Priority = w1(Severity) + w2(PopDensity) + w3(Recurrence) + w4(HazardIndex). Balances raw severity against public safety risks.</a:t>
            </a:r>
          </a:p>
          <a:p>
            <a:pPr>
              <a:defRPr sz="919" b="1">
                <a:solidFill>
                  <a:srgbClr val="FFFFFF"/>
                </a:solidFill>
                <a:latin typeface="Segoe UI"/>
              </a:defRPr>
            </a:pPr>
            <a:r>
              <a:t>• 3. Demand Forecasting:</a:t>
            </a:r>
          </a:p>
          <a:p>
            <a:pPr>
              <a:defRPr sz="830">
                <a:solidFill>
                  <a:srgbClr val="CBD5E1"/>
                </a:solidFill>
                <a:latin typeface="Segoe UI"/>
              </a:defRPr>
            </a:pPr>
            <a:r>
              <a:t>  Hybrid ARIMA + Prophet decomposes historical load into trend, seasonality (weekly/monsoon), and residual surge variance.</a:t>
            </a:r>
          </a:p>
          <a:p>
            <a:pPr>
              <a:defRPr sz="919" b="1">
                <a:solidFill>
                  <a:srgbClr val="FFFFFF"/>
                </a:solidFill>
                <a:latin typeface="Segoe UI"/>
              </a:defRPr>
            </a:pPr>
            <a:r>
              <a:t>• 4. Hotspot Spatial Clustering:</a:t>
            </a:r>
          </a:p>
          <a:p>
            <a:pPr>
              <a:defRPr sz="830">
                <a:solidFill>
                  <a:srgbClr val="CBD5E1"/>
                </a:solidFill>
                <a:latin typeface="Segoe UI"/>
              </a:defRPr>
            </a:pPr>
            <a:r>
              <a:t>  DBSCAN clusters coordinates based on epsilon-neighborhood, distinguishing isolated incidents from systemic subgrade failures.</a:t>
            </a:r>
          </a:p>
          <a:p>
            <a:pPr>
              <a:defRPr sz="919" b="1">
                <a:solidFill>
                  <a:srgbClr val="FFFFFF"/>
                </a:solidFill>
                <a:latin typeface="Segoe UI"/>
              </a:defRPr>
            </a:pPr>
            <a:r>
              <a:t>• 5. Resource Optimization:</a:t>
            </a:r>
          </a:p>
          <a:p>
            <a:pPr>
              <a:defRPr sz="830">
                <a:solidFill>
                  <a:srgbClr val="CBD5E1"/>
                </a:solidFill>
                <a:latin typeface="Segoe UI"/>
              </a:defRPr>
            </a:pPr>
            <a:r>
              <a:t>  Integer Linear Programming (ILP) minimizes total travel distance &amp; crew idle time subject to skill, truck, and inventory constraints.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CIVICFLOW AI  |  INIT-HACK 2.0 (2026)  |  Team: mugiwara's kizoku</a:t>
            </a:r>
          </a:p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8 of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ENGINEERING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From Complaint to Completed Repair: The Digital Work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43584"/>
            <a:ext cx="106984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CivicFlow AI's core breakthrough: transforming vague citizen grievances into structured engineering contracts.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47548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THE REPAIR LIFECYCLE PIPELINE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1. Service Request Ingestion: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  Geotagged citizen report registered &amp; verified.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2. AI Damage Inspection: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  Severity classified &amp; duplicate tickets clustered.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3. Repair Purpose &amp; Scope: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  Engineers specify technical repair objectives.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4. Digital Work Order Generation: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  System creates WO-#8841 with exact BOM requirements.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5. Asset &amp; Crew Allocation: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  Dispatches Paver, Roller, Bitumen, and Unit 4.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6. Active Execution &amp; Tracking: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  Milestone updates logged from field mobile app.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7. Supervisor Verification: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  Before/During/After photo auditing with GPS validation.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8. Closed &amp; Fed to ML Model: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  Completed record updates city preventive models.</a:t>
            </a:r>
          </a:p>
        </p:txBody>
      </p:sp>
      <p:pic>
        <p:nvPicPr>
          <p:cNvPr id="7" name="Picture 6" descr="fig_work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91640"/>
            <a:ext cx="5699455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CIVICFLOW AI  |  INIT-HACK 2.0 (2026)  |  Team: mugiwara's kizoku</a:t>
            </a:r>
          </a:p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9 of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OPERATIONAL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AI-Powered Resource Allocation: Resolving Zonal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43584"/>
            <a:ext cx="106984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Eliminating the traditional municipal flaw of static ward quotas through dynamic demand-driven crew balancing.</a:t>
            </a:r>
          </a:p>
        </p:txBody>
      </p:sp>
      <p:pic>
        <p:nvPicPr>
          <p:cNvPr id="5" name="Picture 4" descr="fig_resource_re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603504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691640"/>
            <a:ext cx="4510735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1828800"/>
            <a:ext cx="4069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DYNAMIC DISPATCH LOGIC (CASE STUDY)</a:t>
            </a:r>
          </a:p>
          <a:p>
            <a:br/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Baseline Imbalance State:</a:t>
            </a:r>
          </a:p>
          <a:p>
            <a:pPr>
              <a:defRPr sz="880">
                <a:solidFill>
                  <a:srgbClr val="334155"/>
                </a:solidFill>
                <a:latin typeface="Segoe UI"/>
              </a:defRPr>
            </a:pPr>
            <a:r>
              <a:t>Zone A (North): 12 Active Incidents | 2 Crews (Overburdened)</a:t>
            </a:r>
            <a:br/>
            <a:r>
              <a:t>Zone B (East): 4 Active Incidents | 4 Crews (Surplus Idle Capacity)</a:t>
            </a:r>
          </a:p>
          <a:p>
            <a:br/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AI Recommendation Engine:</a:t>
            </a:r>
          </a:p>
          <a:p>
            <a:pPr>
              <a:defRPr sz="880">
                <a:solidFill>
                  <a:srgbClr val="334155"/>
                </a:solidFill>
                <a:latin typeface="Segoe UI"/>
              </a:defRPr>
            </a:pPr>
            <a:r>
              <a:t>Move 1 Sanitation &amp; Repair Crew from Zone B -&gt; Zone A immediately.</a:t>
            </a:r>
          </a:p>
          <a:p>
            <a:br/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Algorithmic Justification:</a:t>
            </a:r>
          </a:p>
          <a:p>
            <a:pPr>
              <a:defRPr sz="880">
                <a:solidFill>
                  <a:srgbClr val="334155"/>
                </a:solidFill>
                <a:latin typeface="Segoe UI"/>
              </a:defRPr>
            </a:pPr>
            <a:r>
              <a:t>Workload ratio in Zone A reached 6.0 incidents/crew (critical threshold), while Zone B stood at 1.0 incident/crew with low forecasted inflow.</a:t>
            </a:r>
          </a:p>
          <a:p>
            <a:br/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Demonstrated Operational Impact (Demo Data):</a:t>
            </a:r>
          </a:p>
          <a:p>
            <a:pPr>
              <a:defRPr sz="880">
                <a:solidFill>
                  <a:srgbClr val="334155"/>
                </a:solidFill>
                <a:latin typeface="Segoe UI"/>
              </a:defRPr>
            </a:pPr>
            <a:r>
              <a:t>• Average response time reduced from 48h to 18h.</a:t>
            </a:r>
            <a:br/>
            <a:r>
              <a:t>• Eliminates 62% of workload stress on Zone A field staff.</a:t>
            </a:r>
            <a:br/>
            <a:r>
              <a:t>• Prevents idle machinery depreciation in Zone B.</a:t>
            </a:r>
            <a:br/>
            <a:r>
              <a:t>• Increases overall municipal service coverage by 34%.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CIVICFLOW AI  |  INIT-HACK 2.0 (2026)  |  Team: mugiwara's kizoku</a:t>
            </a:r>
          </a:p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10 of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USER EXPERIENCE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One Platform, Different Views: Citizen vs Administrator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43584"/>
            <a:ext cx="106984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Tailored operational touchpoints: high-transparency mobile tracking for citizens and tactical command for city staff.</a:t>
            </a:r>
          </a:p>
        </p:txBody>
      </p:sp>
      <p:pic>
        <p:nvPicPr>
          <p:cNvPr id="5" name="Picture 4" descr="fig_dual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658368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691640"/>
            <a:ext cx="3962095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78308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CITIZEN EXPERIENCE</a:t>
            </a:r>
          </a:p>
          <a:p>
            <a:pPr>
              <a:defRPr sz="880">
                <a:solidFill>
                  <a:srgbClr val="334155"/>
                </a:solidFill>
                <a:latin typeface="Segoe UI"/>
              </a:defRPr>
            </a:pPr>
            <a:r>
              <a:t>• 3-Step Instant Submission with auto-GPS pinning.</a:t>
            </a:r>
            <a:br/>
            <a:r>
              <a:t>• Real-Time Progress Bar (e.g. '65% Complete — Subgrade Done').</a:t>
            </a:r>
            <a:br/>
            <a:r>
              <a:t>• Verified Before/During/After Inspection photos.</a:t>
            </a:r>
            <a:br/>
            <a:r>
              <a:t>• Automated SMS / WhatsApp Milestone notifications.</a:t>
            </a:r>
            <a:br/>
            <a:r>
              <a:t>• Direct feedback &amp; service quality rating upon closure.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3977639"/>
            <a:ext cx="3962095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406908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ADMINISTRATOR COMMAND HUD</a:t>
            </a:r>
          </a:p>
          <a:p>
            <a:pPr>
              <a:defRPr sz="880">
                <a:solidFill>
                  <a:srgbClr val="334155"/>
                </a:solidFill>
                <a:latin typeface="Segoe UI"/>
              </a:defRPr>
            </a:pPr>
            <a:r>
              <a:t>• Live City-Wide GIS Incident &amp; Fleet Tracking Map.</a:t>
            </a:r>
            <a:br/>
            <a:r>
              <a:t>• One-Click Digital Work Order dispatch &amp; crew allocation.</a:t>
            </a:r>
            <a:br/>
            <a:r>
              <a:t>• Real-Time Material Inventory &amp; Budget Variance tracking.</a:t>
            </a:r>
            <a:br/>
            <a:r>
              <a:t>• Automated SLA Breach &amp; Delay Warning notifications.</a:t>
            </a:r>
            <a:br/>
            <a:r>
              <a:t>• Supervisor sign-off &amp; verified closure authorization.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CIVICFLOW AI  |  INIT-HACK 2.0 (2026)  |  Team: mugiwara's kizoku</a:t>
            </a:r>
          </a:p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11 of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OPERATIONAL TELEMETRY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Complete Repair Visibility: Milestone Telemetry &amp; Audit Trails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43584"/>
            <a:ext cx="106984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Every work order generates an immutable, timestamped event log to eliminate bureaucratic delays and lost tickets.</a:t>
            </a:r>
          </a:p>
        </p:txBody>
      </p:sp>
      <p:pic>
        <p:nvPicPr>
          <p:cNvPr id="5" name="Picture 4" descr="fig_monitoring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758952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03920" y="1691640"/>
            <a:ext cx="2956255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828800"/>
            <a:ext cx="2587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TRACKED TELEMETRY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Live Progress %:</a:t>
            </a:r>
          </a:p>
          <a:p>
            <a:pPr>
              <a:defRPr sz="830">
                <a:solidFill>
                  <a:srgbClr val="64748B"/>
                </a:solidFill>
                <a:latin typeface="Segoe UI"/>
              </a:defRPr>
            </a:pPr>
            <a:r>
              <a:t>  Milestone steps (0% -&gt; 35% -&gt; 60% -&gt; 90% -&gt; 100%).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Assigned Crew &amp; Fleet:</a:t>
            </a:r>
          </a:p>
          <a:p>
            <a:pPr>
              <a:defRPr sz="830">
                <a:solidFill>
                  <a:srgbClr val="64748B"/>
                </a:solidFill>
                <a:latin typeface="Segoe UI"/>
              </a:defRPr>
            </a:pPr>
            <a:r>
              <a:t>  Foreman identity, worker count, truck GPS IDs.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Material Consumption:</a:t>
            </a:r>
          </a:p>
          <a:p>
            <a:pPr>
              <a:defRPr sz="830">
                <a:solidFill>
                  <a:srgbClr val="64748B"/>
                </a:solidFill>
                <a:latin typeface="Segoe UI"/>
              </a:defRPr>
            </a:pPr>
            <a:r>
              <a:t>  Actual vs estimated bitumen, pipes, and gravel.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Budget Tracking:</a:t>
            </a:r>
          </a:p>
          <a:p>
            <a:pPr>
              <a:defRPr sz="830">
                <a:solidFill>
                  <a:srgbClr val="64748B"/>
                </a:solidFill>
                <a:latin typeface="Segoe UI"/>
              </a:defRPr>
            </a:pPr>
            <a:r>
              <a:t>  Direct accounting of labor hours and equipment rental.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SLA Delay Predictor:</a:t>
            </a:r>
          </a:p>
          <a:p>
            <a:pPr>
              <a:defRPr sz="830">
                <a:solidFill>
                  <a:srgbClr val="64748B"/>
                </a:solidFill>
                <a:latin typeface="Segoe UI"/>
              </a:defRPr>
            </a:pPr>
            <a:r>
              <a:t>  Flags repairs at risk of missing expected completion.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Supervisor Audit:</a:t>
            </a:r>
          </a:p>
          <a:p>
            <a:pPr>
              <a:defRPr sz="830">
                <a:solidFill>
                  <a:srgbClr val="64748B"/>
                </a:solidFill>
                <a:latin typeface="Segoe UI"/>
              </a:defRPr>
            </a:pPr>
            <a:r>
              <a:t>  Geofenced inspection checkpoint sign-offs.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CIVICFLOW AI  |  INIT-HACK 2.0 (2026)  |  Team: mugiwara's kizoku</a:t>
            </a:r>
          </a:p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12 of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PREDICTIVE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From Reactive Response to Preventive Action: Predictive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43584"/>
            <a:ext cx="106984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Stopping infrastructure failures before catastrophic collapse through historical pattern recognition and demand forecasting.</a:t>
            </a:r>
          </a:p>
        </p:txBody>
      </p:sp>
      <p:pic>
        <p:nvPicPr>
          <p:cNvPr id="5" name="Picture 4" descr="fig_foreca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621792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691640"/>
            <a:ext cx="4327855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0920" y="1828800"/>
            <a:ext cx="3886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SECTOR 4: RECURRING FAULT INTELLIGENCE</a:t>
            </a:r>
          </a:p>
          <a:p>
            <a:br/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Historical Incident Pattern (45 Days):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4 drainage overflows</a:t>
            </a:r>
            <a:br/>
            <a:r>
              <a:t>• 3 major water pipeline leaks</a:t>
            </a:r>
            <a:br/>
            <a:r>
              <a:t>• 2 road cave-ins</a:t>
            </a:r>
            <a:br/>
            <a:r>
              <a:t>• 5 sanitation blockages</a:t>
            </a:r>
          </a:p>
          <a:p>
            <a:br/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AI Diagnosis &amp; Hotspot Flag: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The clustering model identifies that frequent pothole re-openings are symptoms of sub-surface pipe erosion, not asphalt wear.</a:t>
            </a:r>
          </a:p>
          <a:p>
            <a:br/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Preventive Recommendation: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Schedule comprehensive geotechnical pipe inspection prior to road resurfacing. Saves 4x recurring repaving costs.</a:t>
            </a:r>
          </a:p>
          <a:p>
            <a:br/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Monsoon Demand Surge Alert: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Current load: 142 reqs -&gt; Forecasted: 184 reqs (+29.6%).</a:t>
            </a:r>
            <a:br/>
            <a:r>
              <a:t>Proactive Action: Pre-deploy 3 drainage suction units to Sector 4 before heavy precipitation commences.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CIVICFLOW AI  |  INIT-HACK 2.0 (2026)  |  Team: mugiwara's kizoku</a:t>
            </a:r>
          </a:p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13 of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IMPLEMENTATION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Technology Stack: Scalable, Low-Latency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43584"/>
            <a:ext cx="106984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Built on industry-standard open-source enterprise frameworks ensuring high throughput and municipal maintainability.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56432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456432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74519"/>
            <a:ext cx="3127248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Frontend &amp; UI Layer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React 18 / TypeScript: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Component architecture with strict type safety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Tailwind CSS &amp; Shadcn: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Enterprise design system &amp; responsive styling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Recharts &amp; Lucide: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Interactive operational charts and status glyphs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Progressive Web App: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Lightweight mobile responsive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737360"/>
            <a:ext cx="3456432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737360"/>
            <a:ext cx="345643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874519"/>
            <a:ext cx="3127248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Backend &amp; Microservices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Python FastAPI: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Asynchronous high-performance REST APIs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Pydantic v2: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Strict request/response schema validation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Celery &amp; Redis: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Distributed background tasks for ML models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JWT &amp; RBAC: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Secure role-based municipal authentication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737360"/>
            <a:ext cx="3456432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0144" y="1737360"/>
            <a:ext cx="345643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1874519"/>
            <a:ext cx="3127248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AI / ML Intelligence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Hugging Face Transformers: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Fine-tuned DistilBERT for civic NLP taxonomy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Prophet &amp; ARIMA: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Seasonal time-series municipal demand forecasting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Scikit-Learn &amp; DBSCAN: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Geospatial clustering and recurrence detection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PuLP / SciPy: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Linear programming for crew &amp; fleet optimization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56432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023360"/>
            <a:ext cx="345643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160520"/>
            <a:ext cx="3127248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Database &amp; Storage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PostgreSQL 16: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ACID compliant relational core data store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PostGIS Extension: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High-performance geospatial queries &amp; spatial joins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TimescaleDB: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Optimized time-series logging for crew telemetry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S3 / Supabase Storage: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Encrypted object storage for inspection photos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4023360"/>
            <a:ext cx="3456432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0832" y="4023360"/>
            <a:ext cx="345643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4160520"/>
            <a:ext cx="3127248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GIS &amp; Visualization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Mapbox GL / Leaflet: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Hardware-accelerated vector map rendering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GeoJSON Pipelines: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Ward boundaries, road networks, and asset layers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Turf.js: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Client-side spatial analysis and point-in-polygon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Deck.gl (Optional):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Large-scale city incident heatmap layers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4023360"/>
            <a:ext cx="3456432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0144" y="4023360"/>
            <a:ext cx="3456432" cy="7315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4160520"/>
            <a:ext cx="3127248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Segoe UI"/>
              </a:defRPr>
            </a:pPr>
            <a:r>
              <a:t>Data Pipeline &amp; Testing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Municipal CSV Pipelines: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Batch ingestion of historical civic service logs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Synthetic City Generator: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Realistic test dataset generator for stress tests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Docker &amp; Compose: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Containerized deployment for cloud &amp; on-premise</a:t>
            </a:r>
          </a:p>
          <a:p>
            <a:pPr>
              <a:defRPr sz="860" b="1">
                <a:solidFill>
                  <a:srgbClr val="0F172A"/>
                </a:solidFill>
                <a:latin typeface="Segoe UI"/>
              </a:defRPr>
            </a:pPr>
            <a:r>
              <a:t>• GitHub Actions: </a:t>
            </a:r>
          </a:p>
          <a:p>
            <a:pPr>
              <a:defRPr sz="780">
                <a:solidFill>
                  <a:srgbClr val="64748B"/>
                </a:solidFill>
                <a:latin typeface="Segoe UI"/>
              </a:defRPr>
            </a:pPr>
            <a:r>
              <a:t>  Automated CI/CD testing and model linting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CIVICFLOW AI  |  INIT-HACK 2.0 (2026)  |  Team: mugiwara's kizoku</a:t>
            </a:r>
          </a:p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14 of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QUANTIFIABLE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Why CivicFlow AI Matters: Transforming Municipal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43584"/>
            <a:ext cx="106984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Direct comparative analysis illustrating the operational leap from legacy municipal bureaucracy to intelligent orchestration.</a:t>
            </a:r>
          </a:p>
        </p:txBody>
      </p:sp>
      <p:pic>
        <p:nvPicPr>
          <p:cNvPr id="5" name="Picture 4" descr="fig_comparis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658368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691640"/>
            <a:ext cx="3962095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79" y="1691640"/>
            <a:ext cx="91440" cy="14173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801368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Segoe UI"/>
              </a:defRPr>
            </a:pPr>
            <a:r>
              <a:t>45% FASTER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Turnaround Reduction [Illustrative Simulation]</a:t>
            </a:r>
          </a:p>
          <a:p>
            <a:pPr>
              <a:defRPr sz="819">
                <a:solidFill>
                  <a:srgbClr val="64748B"/>
                </a:solidFill>
                <a:latin typeface="Segoe UI"/>
              </a:defRPr>
            </a:pPr>
            <a:r>
              <a:t>From average 8-12 days down to 2-4 days via automated triage, work order routing, and zero paper handoffs.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200400"/>
            <a:ext cx="3962095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3200400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3310128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Segoe UI"/>
              </a:defRPr>
            </a:pPr>
            <a:r>
              <a:t>38% HIGHER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Resource Utilization [Illustrative Simulation]</a:t>
            </a:r>
          </a:p>
          <a:p>
            <a:pPr>
              <a:defRPr sz="819">
                <a:solidFill>
                  <a:srgbClr val="64748B"/>
                </a:solidFill>
                <a:latin typeface="Segoe UI"/>
              </a:defRPr>
            </a:pPr>
            <a:r>
              <a:t>Eliminating ward-level crew hoarding and idle vehicle stagnation through dynamic constraint-based balancing.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4709160"/>
            <a:ext cx="3962095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4709160"/>
            <a:ext cx="91440" cy="1417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4818888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  <a:latin typeface="Segoe UI"/>
              </a:defRPr>
            </a:pPr>
            <a:r>
              <a:t>60% FEWER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Recurring Complaints [Illustrative Simulation]</a:t>
            </a:r>
          </a:p>
          <a:p>
            <a:pPr>
              <a:defRPr sz="819">
                <a:solidFill>
                  <a:srgbClr val="64748B"/>
                </a:solidFill>
                <a:latin typeface="Segoe UI"/>
              </a:defRPr>
            </a:pPr>
            <a:r>
              <a:t>Preventive root-cause maintenance stops repetitive patching and addresses underlying infrastructure failures.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CIVICFLOW AI  |  INIT-HACK 2.0 (2026)  |  Team: mugiwara's kizoku</a:t>
            </a:r>
          </a:p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15 of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SCALABILITY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Future Scope: Phased Evolution for Smart Metropolis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43584"/>
            <a:ext cx="106984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 pragmatic engineering roadmap for municipal expansion, prioritizing software integrations and edge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578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PHASE 2: NEAR-TERM SYSTEM EXTENSIONS (6-12 MONTHS)</a:t>
            </a:r>
          </a:p>
          <a:p>
            <a:br/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1. Official Municipal ERP Integration:</a:t>
            </a:r>
          </a:p>
          <a:p>
            <a:pPr>
              <a:defRPr sz="880">
                <a:solidFill>
                  <a:srgbClr val="334155"/>
                </a:solidFill>
                <a:latin typeface="Segoe UI"/>
              </a:defRPr>
            </a:pPr>
            <a:r>
              <a:t>Bridges to SAP Public Sector and municipal treasury systems for direct contractor billing and inventory reconciliation.</a:t>
            </a:r>
          </a:p>
          <a:p>
            <a:br/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2. Multilingual Citizen AI Voice/Chat:</a:t>
            </a:r>
          </a:p>
          <a:p>
            <a:pPr>
              <a:defRPr sz="880">
                <a:solidFill>
                  <a:srgbClr val="334155"/>
                </a:solidFill>
                <a:latin typeface="Segoe UI"/>
              </a:defRPr>
            </a:pPr>
            <a:r>
              <a:t>Regional language NLP interfaces (speech-to-text) enabling citizen reporting without literacy or language barriers.</a:t>
            </a:r>
          </a:p>
          <a:p>
            <a:br/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3. Offline-First Field Worker Mobile App:</a:t>
            </a:r>
          </a:p>
          <a:p>
            <a:pPr>
              <a:defRPr sz="880">
                <a:solidFill>
                  <a:srgbClr val="334155"/>
                </a:solidFill>
                <a:latin typeface="Segoe UI"/>
              </a:defRPr>
            </a:pPr>
            <a:r>
              <a:t>Progressive web application with local SQLite caching for crew check-ins in low-connectivity urban pockets.</a:t>
            </a:r>
          </a:p>
          <a:p>
            <a:br/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4. Computer Vision Pothole Grading:</a:t>
            </a:r>
          </a:p>
          <a:p>
            <a:pPr>
              <a:defRPr sz="880">
                <a:solidFill>
                  <a:srgbClr val="334155"/>
                </a:solidFill>
                <a:latin typeface="Segoe UI"/>
              </a:defRPr>
            </a:pPr>
            <a:r>
              <a:t>Mobile edge models to automatically segment and classify pothole depth and pavement cracking from uploaded photos.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691640"/>
            <a:ext cx="52578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82880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PHASE 3: METROPOLITAN INTELLIGENCE (12-24 MONTHS)</a:t>
            </a:r>
          </a:p>
          <a:p>
            <a:br/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5. Dynamic Multi-Stop Route Optimization:</a:t>
            </a:r>
          </a:p>
          <a:p>
            <a:pPr>
              <a:defRPr sz="880">
                <a:solidFill>
                  <a:srgbClr val="334155"/>
                </a:solidFill>
                <a:latin typeface="Segoe UI"/>
              </a:defRPr>
            </a:pPr>
            <a:r>
              <a:t>Solves Vehicle Routing Problems (VRP) for waste fleets and repair trucks using real-time traffic heuristics.</a:t>
            </a:r>
          </a:p>
          <a:p>
            <a:br/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6. Long-Term Infrastructure Degradation:</a:t>
            </a:r>
          </a:p>
          <a:p>
            <a:pPr>
              <a:defRPr sz="880">
                <a:solidFill>
                  <a:srgbClr val="334155"/>
                </a:solidFill>
                <a:latin typeface="Segoe UI"/>
              </a:defRPr>
            </a:pPr>
            <a:r>
              <a:t>Weibull survival analysis models estimating exact time-to-failure for urban water mains and asphalt surfaces.</a:t>
            </a:r>
          </a:p>
          <a:p>
            <a:br/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7. City-Wide Digital Twin Geospatial Sync:</a:t>
            </a:r>
          </a:p>
          <a:p>
            <a:pPr>
              <a:defRPr sz="880">
                <a:solidFill>
                  <a:srgbClr val="334155"/>
                </a:solidFill>
                <a:latin typeface="Segoe UI"/>
              </a:defRPr>
            </a:pPr>
            <a:r>
              <a:t>Seamless synchronization with 3D city GIS models to simulate flood impacts and utility dependencies.</a:t>
            </a:r>
          </a:p>
          <a:p>
            <a:br/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8. Inter-Agency Disaster Coordination:</a:t>
            </a:r>
          </a:p>
          <a:p>
            <a:pPr>
              <a:defRPr sz="880">
                <a:solidFill>
                  <a:srgbClr val="334155"/>
                </a:solidFill>
                <a:latin typeface="Segoe UI"/>
              </a:defRPr>
            </a:pPr>
            <a:r>
              <a:t>Automated cross-departmental pooling of municipal pumps and earthmovers during monsoon emergencies.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CIVICFLOW AI  |  INIT-HACK 2.0 (2026)  |  Team: mugiwara's kizoku</a:t>
            </a:r>
          </a:p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16 of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PROJECT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Conclusion: Transforming Urban Governance Through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43584"/>
            <a:ext cx="106984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CivicFlow AI replaces fragmented complaint management with a closed-loop urban operating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56432" cy="1097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01368"/>
            <a:ext cx="312724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What is wrong?</a:t>
            </a:r>
          </a:p>
          <a:p>
            <a:pPr>
              <a:defRPr sz="880">
                <a:solidFill>
                  <a:srgbClr val="E2E8F0"/>
                </a:solidFill>
                <a:latin typeface="Segoe UI"/>
              </a:defRPr>
            </a:pPr>
            <a:r>
              <a:t>➔ AI NLP Multi-Modal 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91640"/>
            <a:ext cx="3456432" cy="1097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35424" y="1801368"/>
            <a:ext cx="312724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Where is it happening?</a:t>
            </a:r>
          </a:p>
          <a:p>
            <a:pPr>
              <a:defRPr sz="880">
                <a:solidFill>
                  <a:srgbClr val="E2E8F0"/>
                </a:solidFill>
                <a:latin typeface="Segoe UI"/>
              </a:defRPr>
            </a:pPr>
            <a:r>
              <a:t>➔ High-Precision GIS Map Geocoding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91640"/>
            <a:ext cx="3456432" cy="1097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74736" y="1801368"/>
            <a:ext cx="312724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How urgent is it?</a:t>
            </a:r>
          </a:p>
          <a:p>
            <a:pPr>
              <a:defRPr sz="880">
                <a:solidFill>
                  <a:srgbClr val="E2E8F0"/>
                </a:solidFill>
                <a:latin typeface="Segoe UI"/>
              </a:defRPr>
            </a:pPr>
            <a:r>
              <a:t>➔ Multi-Criteria Priority Scoring Formula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3456432" cy="1097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312724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What should be repaired?</a:t>
            </a:r>
          </a:p>
          <a:p>
            <a:pPr>
              <a:defRPr sz="880">
                <a:solidFill>
                  <a:srgbClr val="E2E8F0"/>
                </a:solidFill>
                <a:latin typeface="Segoe UI"/>
              </a:defRPr>
            </a:pPr>
            <a:r>
              <a:t>➔ Formal Engineering Purpose &amp;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926080"/>
            <a:ext cx="3456432" cy="1097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3035808"/>
            <a:ext cx="312724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Who should repair it?</a:t>
            </a:r>
          </a:p>
          <a:p>
            <a:pPr>
              <a:defRPr sz="880">
                <a:solidFill>
                  <a:srgbClr val="E2E8F0"/>
                </a:solidFill>
                <a:latin typeface="Segoe UI"/>
              </a:defRPr>
            </a:pPr>
            <a:r>
              <a:t>➔ Dynamic Constraint-Based Crew Dispatch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2926080"/>
            <a:ext cx="3456432" cy="1097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3035808"/>
            <a:ext cx="312724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What resources are needed?</a:t>
            </a:r>
          </a:p>
          <a:p>
            <a:pPr>
              <a:defRPr sz="880">
                <a:solidFill>
                  <a:srgbClr val="E2E8F0"/>
                </a:solidFill>
                <a:latin typeface="Segoe UI"/>
              </a:defRPr>
            </a:pPr>
            <a:r>
              <a:t>➔ Automated Bill of Materials &amp; Equipment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60520"/>
            <a:ext cx="3456432" cy="1097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270248"/>
            <a:ext cx="312724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How is the repair progressing?</a:t>
            </a:r>
          </a:p>
          <a:p>
            <a:pPr>
              <a:defRPr sz="880">
                <a:solidFill>
                  <a:srgbClr val="E2E8F0"/>
                </a:solidFill>
                <a:latin typeface="Segoe UI"/>
              </a:defRPr>
            </a:pPr>
            <a:r>
              <a:t>➔ Real-Time Milestone Telemetry &amp; SLAs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4160520"/>
            <a:ext cx="3456432" cy="1097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4" y="4270248"/>
            <a:ext cx="312724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Was work done properly?</a:t>
            </a:r>
          </a:p>
          <a:p>
            <a:pPr>
              <a:defRPr sz="880">
                <a:solidFill>
                  <a:srgbClr val="E2E8F0"/>
                </a:solidFill>
                <a:latin typeface="Segoe UI"/>
              </a:defRPr>
            </a:pPr>
            <a:r>
              <a:t>➔ Tamper-Proof Photo Inspection &amp; Verification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0144" y="4160520"/>
            <a:ext cx="3456432" cy="1097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4270248"/>
            <a:ext cx="312724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What can be prevented next?</a:t>
            </a:r>
          </a:p>
          <a:p>
            <a:pPr>
              <a:defRPr sz="880">
                <a:solidFill>
                  <a:srgbClr val="E2E8F0"/>
                </a:solidFill>
                <a:latin typeface="Segoe UI"/>
              </a:defRPr>
            </a:pPr>
            <a:r>
              <a:t>➔ Time-Series Demand &amp; Hotspot Analytics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86400"/>
            <a:ext cx="10728655" cy="6858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96128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 i="1">
                <a:solidFill>
                  <a:srgbClr val="FFFFFF"/>
                </a:solidFill>
                <a:latin typeface="Segoe UI"/>
              </a:defRPr>
            </a:pPr>
            <a:r>
              <a:t>"CivicFlow AI turns fragmented civic data into coordinated, intelligent municipal action."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CIVICFLOW AI  |  INIT-HACK 2.0 (2026)  |  Team: mugiwara's kizoku</a:t>
            </a:r>
          </a:p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17 of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45920" y="914400"/>
            <a:ext cx="889985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0" y="118872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INIT-HACK 2.0 – HACKATHON 2026  | 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60020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CIVICFLOW AI</a:t>
            </a:r>
          </a:p>
          <a:p>
            <a:pPr algn="ctr">
              <a:defRPr sz="1100" i="1">
                <a:solidFill>
                  <a:srgbClr val="CBD5E1"/>
                </a:solidFill>
                <a:latin typeface="Segoe UI"/>
              </a:defRPr>
            </a:pPr>
            <a:r>
              <a:t>AI-Powered Urban Service Demand &amp; Resource Allocation Platform</a:t>
            </a:r>
            <a:br/>
            <a:r>
              <a:t>"From Civic Problems to Intelligent Action"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337560"/>
            <a:ext cx="7619695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3474720"/>
            <a:ext cx="725393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Team Name: mugiwara's kizoku</a:t>
            </a:r>
          </a:p>
          <a:p>
            <a:pPr algn="ctr">
              <a:defRPr sz="1150" b="1">
                <a:solidFill>
                  <a:srgbClr val="38BDF8"/>
                </a:solidFill>
                <a:latin typeface="Segoe UI"/>
              </a:defRPr>
            </a:pPr>
            <a:r>
              <a:t>Presenters: G Vishnu Madhav  &amp;  B Yeswanth Obul Reddy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Category: Smart Cities &amp; AI-Driven Urban Operations  |  B.Tech Engineering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892040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Questions &amp; Technical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CIVICFLOW AI  |  INIT-HACK 2.0 (2026)  |  Team: mugiwara's kizoku</a:t>
            </a:r>
          </a:p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18 of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